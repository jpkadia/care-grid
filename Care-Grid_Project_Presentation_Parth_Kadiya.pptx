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54cc0c3e944f79" /><Relationship Type="http://schemas.openxmlformats.org/officeDocument/2006/relationships/extended-properties" Target="/docProps/app.xml" Id="R6950ec905e294acf" /><Relationship Type="http://schemas.openxmlformats.org/officeDocument/2006/relationships/officeDocument" Target="/ppt/presentation.xml" Id="Rff4e7a162f054d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cfdf107a8b49cf"/>
  </p:sldMasterIdLst>
  <p:notesMasterIdLst>
    <p:notesMasterId xmlns:r="http://schemas.openxmlformats.org/officeDocument/2006/relationships" r:id="R28eeb0deecba4494"/>
  </p:notesMasterIdLst>
  <p:sldIdLst>
    <p:sldId xmlns:r="http://schemas.openxmlformats.org/officeDocument/2006/relationships" id="256" r:id="R8590d9263e9c4901"/>
    <p:sldId xmlns:r="http://schemas.openxmlformats.org/officeDocument/2006/relationships" id="257" r:id="R24e52a685e22471a"/>
    <p:sldId xmlns:r="http://schemas.openxmlformats.org/officeDocument/2006/relationships" id="258" r:id="Rb3ef8ba1bfd84fac"/>
    <p:sldId xmlns:r="http://schemas.openxmlformats.org/officeDocument/2006/relationships" id="259" r:id="R7032792ece4349e9"/>
    <p:sldId xmlns:r="http://schemas.openxmlformats.org/officeDocument/2006/relationships" id="260" r:id="R7cdd0b5adbf84d2b"/>
    <p:sldId xmlns:r="http://schemas.openxmlformats.org/officeDocument/2006/relationships" id="261" r:id="Raeb93b6154c143a3"/>
    <p:sldId xmlns:r="http://schemas.openxmlformats.org/officeDocument/2006/relationships" id="262" r:id="R607c65ebbc4f471d"/>
    <p:sldId xmlns:r="http://schemas.openxmlformats.org/officeDocument/2006/relationships" id="263" r:id="Rcdffec7dd1ec4a91"/>
    <p:sldId xmlns:r="http://schemas.openxmlformats.org/officeDocument/2006/relationships" id="264" r:id="Rd5249bdfba394fc3"/>
    <p:sldId xmlns:r="http://schemas.openxmlformats.org/officeDocument/2006/relationships" id="265" r:id="R59a189f6da864114"/>
    <p:sldId xmlns:r="http://schemas.openxmlformats.org/officeDocument/2006/relationships" id="266" r:id="Rd4ca3940523c43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baf8f742c04eb9" /><Relationship Type="http://schemas.openxmlformats.org/officeDocument/2006/relationships/slideMaster" Target="/ppt/slideMasters/slideMaster1.xml" Id="R00cfdf107a8b49cf" /><Relationship Type="http://schemas.openxmlformats.org/officeDocument/2006/relationships/notesMaster" Target="/ppt/notesMasters/notesMaster1.xml" Id="R28eeb0deecba4494" /><Relationship Type="http://schemas.openxmlformats.org/officeDocument/2006/relationships/presProps" Target="/ppt/presProps.xml" Id="R9d89a23251e241cd" /><Relationship Type="http://schemas.openxmlformats.org/officeDocument/2006/relationships/viewProps" Target="/ppt/viewProps.xml" Id="Ra262113a005e40d9" /><Relationship Type="http://schemas.openxmlformats.org/officeDocument/2006/relationships/tableStyles" Target="/ppt/tableStyles.xml" Id="R573cf8ae4e974a2d" /><Relationship Type="http://schemas.openxmlformats.org/officeDocument/2006/relationships/slide" Target="/ppt/slides/slide1.xml" Id="R8590d9263e9c4901" /><Relationship Type="http://schemas.openxmlformats.org/officeDocument/2006/relationships/slide" Target="/ppt/slides/slide2.xml" Id="R24e52a685e22471a" /><Relationship Type="http://schemas.openxmlformats.org/officeDocument/2006/relationships/slide" Target="/ppt/slides/slide3.xml" Id="Rb3ef8ba1bfd84fac" /><Relationship Type="http://schemas.openxmlformats.org/officeDocument/2006/relationships/slide" Target="/ppt/slides/slide4.xml" Id="R7032792ece4349e9" /><Relationship Type="http://schemas.openxmlformats.org/officeDocument/2006/relationships/slide" Target="/ppt/slides/slide5.xml" Id="R7cdd0b5adbf84d2b" /><Relationship Type="http://schemas.openxmlformats.org/officeDocument/2006/relationships/slide" Target="/ppt/slides/slide6.xml" Id="Raeb93b6154c143a3" /><Relationship Type="http://schemas.openxmlformats.org/officeDocument/2006/relationships/slide" Target="/ppt/slides/slide7.xml" Id="R607c65ebbc4f471d" /><Relationship Type="http://schemas.openxmlformats.org/officeDocument/2006/relationships/slide" Target="/ppt/slides/slide8.xml" Id="Rcdffec7dd1ec4a91" /><Relationship Type="http://schemas.openxmlformats.org/officeDocument/2006/relationships/slide" Target="/ppt/slides/slide9.xml" Id="Rd5249bdfba394fc3" /><Relationship Type="http://schemas.openxmlformats.org/officeDocument/2006/relationships/slide" Target="/ppt/slides/slide10.xml" Id="R59a189f6da864114" /><Relationship Type="http://schemas.openxmlformats.org/officeDocument/2006/relationships/slide" Target="/ppt/slides/slide11.xml" Id="Rd4ca3940523c43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4ef1bb660242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9bcd5c2b384d7a" /><Relationship Type="http://schemas.openxmlformats.org/officeDocument/2006/relationships/notesMaster" Target="/ppt/notesMasters/notesMaster1.xml" Id="R196c95392c2d4a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468c65056c4638" /><Relationship Type="http://schemas.openxmlformats.org/officeDocument/2006/relationships/notesMaster" Target="/ppt/notesMasters/notesMaster1.xml" Id="Re6434d78533640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3ce39dc3b541ef" /><Relationship Type="http://schemas.openxmlformats.org/officeDocument/2006/relationships/notesMaster" Target="/ppt/notesMasters/notesMaster1.xml" Id="R3d41122973954d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5a217ab5fd4cf0" /><Relationship Type="http://schemas.openxmlformats.org/officeDocument/2006/relationships/notesMaster" Target="/ppt/notesMasters/notesMaster1.xml" Id="R93c2529f1dcc44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50a342621d495b" /><Relationship Type="http://schemas.openxmlformats.org/officeDocument/2006/relationships/notesMaster" Target="/ppt/notesMasters/notesMaster1.xml" Id="Rb80f1e501ff648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b3789ff7544de6" /><Relationship Type="http://schemas.openxmlformats.org/officeDocument/2006/relationships/notesMaster" Target="/ppt/notesMasters/notesMaster1.xml" Id="R966c60701a9e4c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f6d00147af4769" /><Relationship Type="http://schemas.openxmlformats.org/officeDocument/2006/relationships/notesMaster" Target="/ppt/notesMasters/notesMaster1.xml" Id="Re1b57a052d0e49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6ccc258bb549c9" /><Relationship Type="http://schemas.openxmlformats.org/officeDocument/2006/relationships/notesMaster" Target="/ppt/notesMasters/notesMaster1.xml" Id="R245befa959f043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4fd6cf7ccb4dfa" /><Relationship Type="http://schemas.openxmlformats.org/officeDocument/2006/relationships/notesMaster" Target="/ppt/notesMasters/notesMaster1.xml" Id="R5917a3310c654e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af9426d3f943bd" /><Relationship Type="http://schemas.openxmlformats.org/officeDocument/2006/relationships/notesMaster" Target="/ppt/notesMasters/notesMaster1.xml" Id="Re477d36f888347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3e300030164cae" /><Relationship Type="http://schemas.openxmlformats.org/officeDocument/2006/relationships/notesMaster" Target="/ppt/notesMasters/notesMaster1.xml" Id="R2e06a781895941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afbe7b8fdc49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3c7c77bc2a42d0" /><Relationship Type="http://schemas.openxmlformats.org/officeDocument/2006/relationships/slideLayout" Target="/ppt/slideLayouts/slideLayout1.xml" Id="R30e28c5e9c3842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e28c5e9c3842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73749902245f1" /><Relationship Type="http://schemas.openxmlformats.org/officeDocument/2006/relationships/notesSlide" Target="/ppt/notesSlides/notesSlide1.xml" Id="R55c3d8de3d1b4f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b1452de9945cc" /><Relationship Type="http://schemas.openxmlformats.org/officeDocument/2006/relationships/notesSlide" Target="/ppt/notesSlides/notesSlide2.xml" Id="Rf8668124a0b340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64b4f910cd442a" /><Relationship Type="http://schemas.openxmlformats.org/officeDocument/2006/relationships/notesSlide" Target="/ppt/notesSlides/notesSlide3.xml" Id="Rbb46121ee9734b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d5fef7dbd94acf" /><Relationship Type="http://schemas.openxmlformats.org/officeDocument/2006/relationships/notesSlide" Target="/ppt/notesSlides/notesSlide4.xml" Id="Rd9c09774aa5a4f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7372ed99547f5" /><Relationship Type="http://schemas.openxmlformats.org/officeDocument/2006/relationships/notesSlide" Target="/ppt/notesSlides/notesSlide5.xml" Id="R5c4df58ef83545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d3a919f074c46" /><Relationship Type="http://schemas.openxmlformats.org/officeDocument/2006/relationships/notesSlide" Target="/ppt/notesSlides/notesSlide6.xml" Id="R5ed0a9130d574f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e59a1bdaa4bb5" /><Relationship Type="http://schemas.openxmlformats.org/officeDocument/2006/relationships/notesSlide" Target="/ppt/notesSlides/notesSlide7.xml" Id="R1c10d7291a844c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ae197d7794dc7" /><Relationship Type="http://schemas.openxmlformats.org/officeDocument/2006/relationships/notesSlide" Target="/ppt/notesSlides/notesSlide8.xml" Id="R440433924edc42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8c62d14c0483e" /><Relationship Type="http://schemas.openxmlformats.org/officeDocument/2006/relationships/notesSlide" Target="/ppt/notesSlides/notesSlide9.xml" Id="Ra3665bb83e1f46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e2b919c414f06" /><Relationship Type="http://schemas.openxmlformats.org/officeDocument/2006/relationships/notesSlide" Target="/ppt/notesSlides/notesSlide10.xml" Id="Rd17d747174894dc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d0fd11cb6448e" /><Relationship Type="http://schemas.openxmlformats.org/officeDocument/2006/relationships/notesSlide" Target="/ppt/notesSlides/notesSlide11.xml" Id="Re4a43be0c9dd41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744A18-32B1-4AF3-8322-D421C897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884EF-FF22-4EAC-BDFC-2C2D93FD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796B"/>
          </a:solidFill>
          <a:ln xmlns:a="http://schemas.openxmlformats.org/drawingml/2006/main" w="0">
            <a:solidFill>
              <a:srgbClr val="0D796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02F57-EE42-4A55-A51B-DA70ABBB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14300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450" b="1">
                <a:solidFill>
                  <a:srgbClr val="0F8C77"/>
                </a:solidFill>
                <a:latin typeface="Aptos Display"/>
                <a:ea typeface="Aptos Display"/>
                <a:cs typeface="Aptos Display"/>
              </a:defRPr>
            </a:pPr>
            <a:r>
              <a:t>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6FF1CD-8DF5-429C-90A6-B8F5732C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809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A344F-5936-45D5-A068-2B3EF1BF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71550"/>
            <a:ext cx="619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CARE-GRID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612E8-7C82-418B-93C6-4838E3D2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85925"/>
            <a:ext cx="5715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DF3EE"/>
                </a:solidFill>
                <a:latin typeface="Aptos"/>
                <a:ea typeface="Aptos"/>
                <a:cs typeface="Aptos"/>
              </a:defRPr>
            </a:pPr>
            <a:r>
              <a:t>Doctor Website Maker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CCA8D-23E1-4679-A11D-528EA9C3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547687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3D597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0D2B3-94D9-4ADB-B473-26B051DF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5953125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5E4EF"/>
                </a:solidFill>
                <a:latin typeface="Aptos"/>
                <a:ea typeface="Aptos"/>
                <a:cs typeface="Aptos"/>
              </a:defRPr>
            </a:pPr>
            <a:r>
              <a:t>A secure MERN platform that turns verified clinic details into a modern website and operational dashboard.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CE2D3-A983-496C-8E0E-C058DAB0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1352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1445F"/>
          </a:solidFill>
          <a:ln xmlns:a="http://schemas.openxmlformats.org/drawingml/2006/main" w="0">
            <a:solidFill>
              <a:srgbClr val="2144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1F251-A1C0-4A1A-949F-BDECCD5A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05275"/>
            <a:ext cx="13525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F3EE"/>
                </a:solidFill>
                <a:latin typeface="Aptos"/>
                <a:ea typeface="Aptos"/>
                <a:cs typeface="Aptos"/>
              </a:defRPr>
            </a:pPr>
            <a:r>
              <a:t>MERN STACK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F66F7-E5A9-4679-8359-0CB2D812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95750"/>
            <a:ext cx="1504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1445F"/>
          </a:solidFill>
          <a:ln xmlns:a="http://schemas.openxmlformats.org/drawingml/2006/main" w="0">
            <a:solidFill>
              <a:srgbClr val="21445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20AF1-E5ED-4DBF-8C9C-C31A554D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105275"/>
            <a:ext cx="15049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F3EE"/>
                </a:solidFill>
                <a:latin typeface="Aptos"/>
                <a:ea typeface="Aptos"/>
                <a:cs typeface="Aptos"/>
              </a:defRPr>
            </a:pPr>
            <a:r>
              <a:t>OTP SECURITY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38730-14AC-42F2-AA8A-4D5C3146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95750"/>
            <a:ext cx="1600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1445F"/>
          </a:solidFill>
          <a:ln xmlns:a="http://schemas.openxmlformats.org/drawingml/2006/main" w="0">
            <a:solidFill>
              <a:srgbClr val="21445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02F6C-0F3A-4194-9ED4-7FC8338B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05275"/>
            <a:ext cx="160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DF3EE"/>
                </a:solidFill>
                <a:latin typeface="Aptos"/>
                <a:ea typeface="Aptos"/>
                <a:cs typeface="Aptos"/>
              </a:defRPr>
            </a:pPr>
            <a:r>
              <a:t>SMART 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51895-CDBF-4A9C-B592-0E0857036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1428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C0D3"/>
                </a:solidFill>
                <a:latin typeface="Aptos"/>
                <a:ea typeface="Aptos"/>
                <a:cs typeface="Aptos"/>
              </a:defRPr>
            </a:pPr>
            <a:r>
              <a:t>Presented by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2412D-4DF6-4947-8F28-F1DECFB3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Parth Kadiya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CC482-0E98-4A1D-8B5D-85293CB5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C0D3"/>
                </a:solidFill>
                <a:latin typeface="Aptos"/>
                <a:ea typeface="Aptos"/>
                <a:cs typeface="Aptos"/>
              </a:defRPr>
            </a:pPr>
            <a:r>
              <a:t>Enrollment No. 224005013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4CD75-ABBE-40F6-9AD8-5A347787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000750"/>
            <a:ext cx="285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4339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6A72E5-FB10-4FBA-9BB6-EAFB970D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C0A33-2111-4DA3-A58B-18FE66D9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C77"/>
                </a:solidFill>
                <a:latin typeface="Aptos"/>
                <a:ea typeface="Aptos"/>
                <a:cs typeface="Aptos"/>
              </a:defRPr>
            </a:pPr>
            <a:r>
              <a:t>PROJECT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CD71E-9DC6-43DF-89B1-0E58148C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47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Care delivery needs a better digital front door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583FB-454E-4468-8D19-5CE5BE4A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23071-8D8D-4C31-8E38-D29BCE79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CARE-GRID  •  PARTH KADIYA  • 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CDC07-79A2-49A4-867F-B41DDA49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38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Doctor Website Maker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6FAD9-D860-4B72-BBC5-696BB3DF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97862"/>
                </a:solidFill>
                <a:latin typeface="Aptos"/>
                <a:ea typeface="Aptos"/>
                <a:cs typeface="Aptos"/>
              </a:defRPr>
            </a:pPr>
            <a:r>
              <a:t>The gap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DF556-ECBC-46BD-BE2B-B4F814FF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323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52B13-B66B-4DEC-88B3-19EDB37E9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62"/>
          </a:solidFill>
          <a:ln xmlns:a="http://schemas.openxmlformats.org/drawingml/2006/main" w="0">
            <a:solidFill>
              <a:srgbClr val="E9786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EC3BB-C829-4636-B966-CF3227E2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Static websites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2BD8E-393C-4FF5-AA04-E8BFABA3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2819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Small clinics depend on developers for every update.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AEFCF-1D6A-4DFA-8BA5-739B0C42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323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3E9CFC-3691-40CD-A9AC-23D68F6A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62"/>
          </a:solidFill>
          <a:ln xmlns:a="http://schemas.openxmlformats.org/drawingml/2006/main" w="0">
            <a:solidFill>
              <a:srgbClr val="E9786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C7C14-3947-4391-8BDB-D8BA97B0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Scattered bookings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8CAA0-BF02-42F0-8FAB-22601097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2819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Calls and messages make appointment tracking difficult.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92442C-0245-4D63-B7BA-60E4CA38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3238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4DEF5-BA6F-4968-A83F-A8F2BD02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66675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62"/>
          </a:solidFill>
          <a:ln xmlns:a="http://schemas.openxmlformats.org/drawingml/2006/main" w="0">
            <a:solidFill>
              <a:srgbClr val="E9786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E5721-C21F-4CE9-BF35-FFD4A88F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2819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Weak access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6FB3E-AE13-4D68-8321-10642A75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38725"/>
            <a:ext cx="2819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Operational data requires secure, role-based access.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A05AB-8D2D-4FB8-A0C0-351727DF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57375"/>
            <a:ext cx="0" cy="3905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C9D7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4CC92D-C9CE-457A-B8FF-EC5AA929A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861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FBFDE-C27B-4EE6-B477-96146D91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0"/>
            <a:ext cx="3810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C77"/>
                </a:solidFill>
                <a:latin typeface="Aptos"/>
                <a:ea typeface="Aptos"/>
                <a:cs typeface="Aptos"/>
              </a:defRPr>
            </a:pPr>
            <a:r>
              <a:t>The Care-Grid response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0FF4E-6B80-4EFB-ABA7-79CD6D58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638175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A87B20-AC39-4B99-861B-A2645DA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05050"/>
            <a:ext cx="5334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One verified workflow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3F2B6C-2DB6-4D0B-BBEB-48756FCB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876550"/>
            <a:ext cx="5238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5E4EF"/>
                </a:solidFill>
                <a:latin typeface="Aptos"/>
                <a:ea typeface="Aptos"/>
                <a:cs typeface="Aptos"/>
              </a:defRPr>
            </a:pPr>
            <a:r>
              <a:t>Create a branded doctor website, receive patient appointments, manage operations, and monitor the network from connected dashboards.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147A46-70C0-4531-9FF6-327A621F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577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F3EE"/>
                </a:solidFill>
                <a:latin typeface="Aptos"/>
                <a:ea typeface="Aptos"/>
                <a:cs typeface="Aptos"/>
              </a:defRPr>
            </a:pPr>
            <a:r>
              <a:t>PUBLIC WEBSITE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4000BB-BD06-4417-B4C3-CD09EC3A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F3EE"/>
                </a:solidFill>
                <a:latin typeface="Aptos"/>
                <a:ea typeface="Aptos"/>
                <a:cs typeface="Aptos"/>
              </a:defRPr>
            </a:pPr>
            <a:r>
              <a:t>DOCTOR ADMIN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C31D14-77A9-41B6-9853-0F1748B0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577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F3EE"/>
                </a:solidFill>
                <a:latin typeface="Aptos"/>
                <a:ea typeface="Aptos"/>
                <a:cs typeface="Aptos"/>
              </a:defRPr>
            </a:pPr>
            <a:r>
              <a:t>SUPER 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741C68-5AC2-4C6B-A5CD-23C241B4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57750"/>
            <a:ext cx="54102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451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161C98-75AF-4124-AA46-4B8E4A3F6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010150"/>
            <a:ext cx="541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4A84A"/>
                </a:solidFill>
                <a:latin typeface="Aptos"/>
                <a:ea typeface="Aptos"/>
                <a:cs typeface="Aptos"/>
              </a:defRPr>
            </a:pPr>
            <a:r>
              <a:t>MongoDB keeps every workflow connected.</a:t>
            </a:r>
          </a:p>
        </p:txBody>
      </p:sp>
    </p:spTree>
    <p:extLst>
      <p:ext uri="{BB962C8B-B14F-4D97-AF65-F5344CB8AC3E}">
        <p14:creationId xmlns:p14="http://schemas.microsoft.com/office/powerpoint/2010/main" val="613599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94E14E-2327-40A7-93A7-4B71DF34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BDAF0-D512-4B9F-A2AC-2204E86E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F3EE"/>
                </a:solidFill>
                <a:latin typeface="Aptos"/>
                <a:ea typeface="Aptos"/>
                <a:cs typeface="Aptos"/>
              </a:defRPr>
            </a:pPr>
            <a:r>
              <a:t>USER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8DB99-1215-4FD3-A344-0A5D02D5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47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Three users, one connected care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F34CB-B282-4B70-813B-9C4B82CF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4516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F3E5C-3168-413C-A322-62057C1A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C0D3"/>
                </a:solidFill>
                <a:latin typeface="Aptos"/>
                <a:ea typeface="Aptos"/>
                <a:cs typeface="Aptos"/>
              </a:defRPr>
            </a:pPr>
            <a:r>
              <a:t>CARE-GRID  •  PARTH KADIYA  • 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5AF35-0D71-4CBD-B515-C7089548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38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9C0D3"/>
                </a:solidFill>
                <a:latin typeface="Aptos"/>
                <a:ea typeface="Aptos"/>
                <a:cs typeface="Aptos"/>
              </a:defRPr>
            </a:pPr>
            <a:r>
              <a:t>Doctor Website Maker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49B41A-C852-4F95-8450-01A39679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58EB7-9B65-4AC2-BD29-608D5D4A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3622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84A"/>
          </a:solidFill>
          <a:ln xmlns:a="http://schemas.openxmlformats.org/drawingml/2006/main" w="0">
            <a:solidFill>
              <a:srgbClr val="E4A8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1A492-6C4F-42C7-A416-9815EE76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3622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7862"/>
          </a:solidFill>
          <a:ln xmlns:a="http://schemas.openxmlformats.org/drawingml/2006/main" w="0">
            <a:solidFill>
              <a:srgbClr val="E9786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SA</a:t>
            </a:r>
          </a:p>
        </p:txBody>
      </p:sp>
      <p:cxnSp>
        <p:nvCxnSpPr>
          <p:cNvPr id="10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2228850" y="2924175"/>
            <a:ext cx="3305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C8B9"/>
            </a:solidFill>
            <a:prstDash val="solid"/>
            <a:tailEnd type="arrow" w="med" len="med"/>
          </a:ln>
        </p:spPr>
      </p:cxnSp>
      <p:cxnSp>
        <p:nvCxnSpPr>
          <p:cNvPr id="11" name=""/>
          <p:cNvCxnSpPr>
            <a:stCxn xmlns:a="http://schemas.openxmlformats.org/drawingml/2006/main" id="8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6657975" y="2924175"/>
            <a:ext cx="33051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9C8B9"/>
            </a:solidFill>
            <a:prstDash val="solid"/>
            <a:tail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7134F-6CF1-46FF-8251-B4D9A366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1695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DOCTOR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CD56D-0730-4131-9C44-9B2A800D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21526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9E6"/>
                </a:solidFill>
                <a:latin typeface="Aptos"/>
                <a:ea typeface="Aptos"/>
                <a:cs typeface="Aptos"/>
              </a:defRPr>
            </a:pPr>
            <a:r>
              <a:t>Builds website</a:t>
            </a:r>
          </a:p>
          <a:p xmlns:a="http://schemas.openxmlformats.org/drawingml/2006/main">
            <a:pPr algn="ctr">
              <a:defRPr sz="1200" b="0">
                <a:solidFill>
                  <a:srgbClr val="C8D9E6"/>
                </a:solidFill>
                <a:latin typeface="Aptos"/>
                <a:ea typeface="Aptos"/>
                <a:cs typeface="Aptos"/>
              </a:defRPr>
            </a:pPr>
            <a:r>
              <a:t>Manages appointments</a:t>
            </a:r>
          </a:p>
          <a:p xmlns:a="http://schemas.openxmlformats.org/drawingml/2006/main">
            <a:pPr algn="ctr">
              <a:defRPr sz="1200" b="0">
                <a:solidFill>
                  <a:srgbClr val="C8D9E6"/>
                </a:solidFill>
                <a:latin typeface="Aptos"/>
                <a:ea typeface="Aptos"/>
                <a:cs typeface="Aptos"/>
              </a:defRPr>
            </a:pPr>
            <a:r>
              <a:t>Uses grounded assistant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322899-BDB2-4D88-B434-95F28519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714750"/>
            <a:ext cx="1695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PATIENT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58E88-A598-4052-8693-3A05C8AC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076700"/>
            <a:ext cx="21526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9E6"/>
                </a:solidFill>
                <a:latin typeface="Aptos"/>
                <a:ea typeface="Aptos"/>
                <a:cs typeface="Aptos"/>
              </a:defRPr>
            </a:pPr>
            <a:r>
              <a:t>Discovers clinic</a:t>
            </a:r>
          </a:p>
          <a:p xmlns:a="http://schemas.openxmlformats.org/drawingml/2006/main">
            <a:pPr algn="ctr">
              <a:defRPr sz="1200" b="0">
                <a:solidFill>
                  <a:srgbClr val="C8D9E6"/>
                </a:solidFill>
                <a:latin typeface="Aptos"/>
                <a:ea typeface="Aptos"/>
                <a:cs typeface="Aptos"/>
              </a:defRPr>
            </a:pPr>
            <a:r>
              <a:t>Books appointment</a:t>
            </a:r>
          </a:p>
          <a:p xmlns:a="http://schemas.openxmlformats.org/drawingml/2006/main">
            <a:pPr algn="ctr">
              <a:defRPr sz="1200" b="0">
                <a:solidFill>
                  <a:srgbClr val="C8D9E6"/>
                </a:solidFill>
                <a:latin typeface="Aptos"/>
                <a:ea typeface="Aptos"/>
                <a:cs typeface="Aptos"/>
              </a:defRPr>
            </a:pPr>
            <a:r>
              <a:t>Opens directions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FCA501-388A-472D-BDA3-4881E87A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14750"/>
            <a:ext cx="1695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SUPER 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491DA5-5466-462B-9BD9-6DB8A6F5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76700"/>
            <a:ext cx="21526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8D9E6"/>
                </a:solidFill>
                <a:latin typeface="Aptos"/>
                <a:ea typeface="Aptos"/>
                <a:cs typeface="Aptos"/>
              </a:defRPr>
            </a:pPr>
            <a:r>
              <a:t>Monitors network</a:t>
            </a:r>
          </a:p>
          <a:p xmlns:a="http://schemas.openxmlformats.org/drawingml/2006/main">
            <a:pPr algn="ctr">
              <a:defRPr sz="1200" b="0">
                <a:solidFill>
                  <a:srgbClr val="C8D9E6"/>
                </a:solidFill>
                <a:latin typeface="Aptos"/>
                <a:ea typeface="Aptos"/>
                <a:cs typeface="Aptos"/>
              </a:defRPr>
            </a:pPr>
            <a:r>
              <a:t>Reviews appointments</a:t>
            </a:r>
          </a:p>
          <a:p xmlns:a="http://schemas.openxmlformats.org/drawingml/2006/main">
            <a:pPr algn="ctr">
              <a:defRPr sz="1200" b="0">
                <a:solidFill>
                  <a:srgbClr val="C8D9E6"/>
                </a:solidFill>
                <a:latin typeface="Aptos"/>
                <a:ea typeface="Aptos"/>
                <a:cs typeface="Aptos"/>
              </a:defRPr>
            </a:pPr>
            <a:r>
              <a:t>Controls portals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E844E-33B4-4BF9-838A-C8654F33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29250"/>
            <a:ext cx="52959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1445F"/>
          </a:solidFill>
          <a:ln xmlns:a="http://schemas.openxmlformats.org/drawingml/2006/main" w="0">
            <a:solidFill>
              <a:srgbClr val="21445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D81A22-9925-45A0-84F3-9D8F1B81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524500"/>
            <a:ext cx="5295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DF3EE"/>
                </a:solidFill>
                <a:latin typeface="Aptos"/>
                <a:ea typeface="Aptos"/>
                <a:cs typeface="Aptos"/>
              </a:defRPr>
            </a:pPr>
            <a:r>
              <a:t>Shared source of truth: MongoDB</a:t>
            </a:r>
          </a:p>
        </p:txBody>
      </p:sp>
    </p:spTree>
    <p:extLst>
      <p:ext uri="{BB962C8B-B14F-4D97-AF65-F5344CB8AC3E}">
        <p14:creationId xmlns:p14="http://schemas.microsoft.com/office/powerpoint/2010/main" val="995852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F4A0ED-DC37-4C5D-8FFD-072D64EB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06460-5403-4B06-8391-28013CD5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C77"/>
                </a:solidFill>
                <a:latin typeface="Aptos"/>
                <a:ea typeface="Aptos"/>
                <a:cs typeface="Aptos"/>
              </a:defRPr>
            </a:pPr>
            <a:r>
              <a:t>PLATFORM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F489A-64A0-49C3-86EA-A3EC1C13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47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A modular MERN architecture connects every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42B63-494C-4448-9B5E-01B3053B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9E1F7-4575-418A-9066-DFE28C52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CARE-GRID  •  PARTH KADIYA  • 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63AEB-05F7-4885-9B5D-0EDDD129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38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Doctor Website Maker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8910F9-B7CC-49C7-92F2-856F3F91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238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C7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397D4-3AE9-41A1-9B82-7FE7EEB1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24050"/>
            <a:ext cx="19716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Doctor Website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A56CF-F5AF-42A9-9154-5886377C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00275"/>
            <a:ext cx="197167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Public profile, gallery,</a:t>
            </a:r>
          </a:p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treatments &amp; booking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7F912F-7461-4149-B9EF-5184B40A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43250"/>
            <a:ext cx="2238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C7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DA995-0658-4642-B9BF-380EF005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19716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Doctor 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173EF-4E31-4E5D-976E-4C557313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197167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Analytics, appointments,</a:t>
            </a:r>
          </a:p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editor &amp; chatbot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C5EA9-9E67-4E1E-A616-5FDD2E35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223837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C7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22A3A-DDED-4ED6-9B8C-14D67570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91050"/>
            <a:ext cx="19716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Super Admin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0D11B-D152-4994-AB31-7F1B3680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867275"/>
            <a:ext cx="197167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Network monitoring,</a:t>
            </a:r>
          </a:p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editing &amp; chatbot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B7FE88-59E0-4881-876C-158B1296F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14625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0F8C7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BA5017-DF2D-4A2F-8873-0323C89D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28925"/>
            <a:ext cx="2876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Node.js + Express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45BC8-E66A-4FAF-B3B9-789C8AD0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05150"/>
            <a:ext cx="28765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BD0DF"/>
                </a:solidFill>
                <a:latin typeface="Aptos"/>
                <a:ea typeface="Aptos"/>
                <a:cs typeface="Aptos"/>
              </a:defRPr>
            </a:pPr>
            <a:r>
              <a:t>Controllers • validation • auth</a:t>
            </a:r>
          </a:p>
          <a:p xmlns:a="http://schemas.openxmlformats.org/drawingml/2006/main">
            <a:pPr algn="ctr">
              <a:defRPr sz="900" b="0">
                <a:solidFill>
                  <a:srgbClr val="BBD0DF"/>
                </a:solidFill>
                <a:latin typeface="Aptos"/>
                <a:ea typeface="Aptos"/>
                <a:cs typeface="Aptos"/>
              </a:defRPr>
            </a:pPr>
            <a:r>
              <a:t>role authorization • services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4E852-D0AE-4479-B8E2-BDE690FF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333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0F8C7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FB2602-B752-4B51-AF45-C2D1ACCF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28800"/>
            <a:ext cx="20669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MongoDB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4CF35C-64B4-4C84-973B-90F64A8A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05025"/>
            <a:ext cx="206692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Doctors • appointments</a:t>
            </a:r>
          </a:p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OTP • chatbot history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F4E7C5-E123-4090-9C00-00BAEF36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2333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E4A8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23FD0-B7B6-4346-94E5-90836D53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0669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Managed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31CACB-3E00-4E26-A4D0-C984D3B0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29025"/>
            <a:ext cx="206692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Cloudinary • Gmail SMTP</a:t>
            </a:r>
          </a:p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OpenAI 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9D8870-1AC7-4D5A-BE17-E470F33B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333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BEEDB"/>
          </a:solidFill>
          <a:ln xmlns:a="http://schemas.openxmlformats.org/drawingml/2006/main" w="9525">
            <a:solidFill>
              <a:srgbClr val="E9786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E90866-9EE6-468B-A503-47948CC5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76800"/>
            <a:ext cx="20669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Production Hosting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5C745D-5BA2-4A8D-BDC8-92A7AB81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53025"/>
            <a:ext cx="2066925" cy="504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Vercel frontend</a:t>
            </a:r>
          </a:p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Render backend</a:t>
            </a:r>
          </a:p>
        </p:txBody>
      </p: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857500" y="2309813"/>
            <a:ext cx="1333500" cy="1262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C77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2857500" y="3571875"/>
            <a:ext cx="1333500" cy="714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C77"/>
            </a:solidFill>
            <a:prstDash val="solid"/>
            <a:tailEnd type="arrow" w="med" len="med"/>
          </a:ln>
        </p:spPr>
      </p:cxnSp>
      <p:cxnSp>
        <p:nvCxnSpPr>
          <p:cNvPr id="30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2857500" y="3571875"/>
            <a:ext cx="1333500" cy="14049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C77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334250" y="2214563"/>
            <a:ext cx="1333500" cy="13573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C77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3571875"/>
            <a:ext cx="1333500" cy="166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C77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16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334250" y="3571875"/>
            <a:ext cx="1333500" cy="1690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C77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2F966D-A7CA-4E2B-865D-8AC072EC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React 19 + Vite + Tailwind CSS</a:t>
            </a:r>
          </a:p>
        </p:txBody>
      </p:sp>
    </p:spTree>
    <p:extLst>
      <p:ext uri="{BB962C8B-B14F-4D97-AF65-F5344CB8AC3E}">
        <p14:creationId xmlns:p14="http://schemas.microsoft.com/office/powerpoint/2010/main" val="7682857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BD95A5-EB2D-431A-B929-A4FE5E25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9FC25-07D8-4E53-A75E-2719D015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C77"/>
                </a:solidFill>
                <a:latin typeface="Aptos"/>
                <a:ea typeface="Aptos"/>
                <a:cs typeface="Aptos"/>
              </a:defRPr>
            </a:pPr>
            <a:r>
              <a:t>DOCTOR ONBOARDING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631D9-EC3A-47BE-A6B7-3EBCFC77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47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A verified clinic can go from form to website in five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BBDAB0-6A6D-4578-877E-C8414FFF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3494F-C21E-48F9-BFBC-8FEE3943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CARE-GRID  •  PARTH KADIYA  •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DE0C7-BFC3-4314-A26F-5842D442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38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Doctor Website Maker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98515-8FCC-4A20-A33F-4D44B007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67000"/>
            <a:ext cx="96202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9D7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D389A-37DD-408D-ACAE-E64C558B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4B353-417F-4E4A-9C72-CC714FDC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86125"/>
            <a:ext cx="1638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Enter clinic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CCF15-6D1A-4767-A058-02C4E610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00"/>
            <a:ext cx="1752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Profile, address, treatments and media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E8B04-541B-45B3-9963-DB992124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383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5E611-87D1-48B0-AC75-1308A547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286125"/>
            <a:ext cx="1638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Verify email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6EAC4-6556-42B5-B8C6-4453E388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10000"/>
            <a:ext cx="1752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Purpose-bound OTP confirms ownership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93896-2F54-48CD-9D6A-CCC509A7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383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0AC25A-0F0D-4AC1-9B7C-DE89290C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86125"/>
            <a:ext cx="1638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Generate content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4DBA1-D867-4D52-BC81-075211A9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810000"/>
            <a:ext cx="1752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Short, suitable website copy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706DB-AF63-4B2D-A9D0-F55EC042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2383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AA98FE-0760-46C0-84D3-48553349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286125"/>
            <a:ext cx="1638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Publish website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2F057E-C809-45FB-8A8D-A31B8B08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810000"/>
            <a:ext cx="1752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Unique slug and responsive theme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8FE0BC-7F3E-47CC-9DC6-2C829035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38375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84A"/>
          </a:solidFill>
          <a:ln xmlns:a="http://schemas.openxmlformats.org/drawingml/2006/main" w="0">
            <a:solidFill>
              <a:srgbClr val="E4A84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54518-2DE2-4E3A-AC51-30842361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286125"/>
            <a:ext cx="1638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Manage operations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633EF-7AB9-478B-A4F8-537B1261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810000"/>
            <a:ext cx="1752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Dashboard, bookings and chatbot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5EBDDB-C406-4CFA-8A37-7DA5C567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8250"/>
            <a:ext cx="8382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D8B63-FF72-4823-B120-2D8806DA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91125"/>
            <a:ext cx="800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Only a verified email can create the doctor record and protected admin account.</a:t>
            </a:r>
          </a:p>
        </p:txBody>
      </p:sp>
    </p:spTree>
    <p:extLst>
      <p:ext uri="{BB962C8B-B14F-4D97-AF65-F5344CB8AC3E}">
        <p14:creationId xmlns:p14="http://schemas.microsoft.com/office/powerpoint/2010/main" val="5056381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E1F1E6-E5DA-4D4F-A632-16832F4D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16D10-95D4-49CD-B4FB-D54F7C4E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C77"/>
                </a:solidFill>
                <a:latin typeface="Aptos"/>
                <a:ea typeface="Aptos"/>
                <a:cs typeface="Aptos"/>
              </a:defRPr>
            </a:pPr>
            <a:r>
              <a:t>APPOINTMENT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93F38-01D8-430D-A4E9-80240921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47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One patient request becomes visible across both dashboards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09C80-8C9C-48D3-8403-99C18A21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CEEE7-C1D6-49CF-89A3-A94676FB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CARE-GRID  •  PARTH KADIYA  •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AD4428-1536-4740-BF54-366566F7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38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Doctor Website Maker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F5912-97FD-42C8-B70A-BF612C03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219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A8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D0F90D-781A-4351-83CB-3AFDE0A6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47925"/>
            <a:ext cx="1924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Patient 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45452-BAD6-4212-9316-5052A6EC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24150"/>
            <a:ext cx="1924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Validated details,</a:t>
            </a:r>
          </a:p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treatment, date &amp; slot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B80F4B-F646-4483-8640-6936E153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33625"/>
            <a:ext cx="257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0F8C7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03B83-43CC-470A-A538-FB1D4CB1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447925"/>
            <a:ext cx="2305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Appointment Record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CBA3D0-90CF-49DE-AF52-D697AF50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724150"/>
            <a:ext cx="2305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BD0DF"/>
                </a:solidFill>
                <a:latin typeface="Aptos"/>
                <a:ea typeface="Aptos"/>
                <a:cs typeface="Aptos"/>
              </a:defRPr>
            </a:pPr>
            <a:r>
              <a:t>Doctor snapshot + patient request</a:t>
            </a:r>
          </a:p>
          <a:p xmlns:a="http://schemas.openxmlformats.org/drawingml/2006/main">
            <a:pPr algn="ctr">
              <a:defRPr sz="900" b="0">
                <a:solidFill>
                  <a:srgbClr val="BBD0DF"/>
                </a:solidFill>
                <a:latin typeface="Aptos"/>
                <a:ea typeface="Aptos"/>
                <a:cs typeface="Aptos"/>
              </a:defRPr>
            </a:pPr>
            <a:r>
              <a:t>saved in MongoDB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1FD00-03F8-4A57-B9E4-70B9CE85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33625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0F8C7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0996F-E4FF-4199-8F8F-BE8FC6F0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447925"/>
            <a:ext cx="2590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Connected Dashboards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EA82BB-0375-4379-86A8-21B95350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724150"/>
            <a:ext cx="2590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Doctor admin + super admin</a:t>
            </a:r>
          </a:p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receive the same record</a:t>
            </a:r>
          </a:p>
        </p:txBody>
      </p:sp>
      <p:cxnSp>
        <p:nvCxnSpPr>
          <p:cNvPr id="16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05125" y="29051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C77"/>
            </a:solidFill>
            <a:prstDash val="solid"/>
            <a:tailEnd type="arrow" w="med" len="med"/>
          </a:ln>
        </p:spPr>
      </p:cxnSp>
      <p:cxnSp>
        <p:nvCxnSpPr>
          <p:cNvPr id="17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429375" y="290512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C77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2DF70-A16D-45C4-B0FB-69793B21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C77"/>
                </a:solidFill>
                <a:latin typeface="Aptos"/>
                <a:ea typeface="Aptos"/>
                <a:cs typeface="Aptos"/>
              </a:defRPr>
            </a:pPr>
            <a:r>
              <a:t>STATUS 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8CC3CE-5B71-4AD6-86EC-0DAFB2C9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958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BEEDB"/>
          </a:solidFill>
          <a:ln xmlns:a="http://schemas.openxmlformats.org/drawingml/2006/main" w="0">
            <a:solidFill>
              <a:srgbClr val="FBEE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2BD30-9D24-4A1D-A566-1E06672F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05325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4A84A"/>
                </a:solidFill>
                <a:latin typeface="Aptos"/>
                <a:ea typeface="Aptos"/>
                <a:cs typeface="Aptos"/>
              </a:defRPr>
            </a:pPr>
            <a:r>
              <a:t>Pending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5E6807-0A43-4122-B705-0761ED02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958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3EE"/>
          </a:solidFill>
          <a:ln xmlns:a="http://schemas.openxmlformats.org/drawingml/2006/main" w="0">
            <a:solidFill>
              <a:srgbClr val="DDF3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9322D6-8B04-4337-9A6F-DA655106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05325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8C77"/>
                </a:solidFill>
                <a:latin typeface="Aptos"/>
                <a:ea typeface="Aptos"/>
                <a:cs typeface="Aptos"/>
              </a:defRPr>
            </a:pPr>
            <a:r>
              <a:t>Confirmed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CC27B-6E40-4E5E-A04C-22D866E3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958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0">
            <a:solidFill>
              <a:srgbClr val="E7F0F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B7051D-0743-4CCD-941B-E2E616E4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05325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Completed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3A24BE-2BC0-42C5-AD94-A4125CA9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9580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E6E1"/>
          </a:solidFill>
          <a:ln xmlns:a="http://schemas.openxmlformats.org/drawingml/2006/main" w="0">
            <a:solidFill>
              <a:srgbClr val="F9E6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C19529-D587-478E-9484-62FF37FD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05325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97862"/>
                </a:solidFill>
                <a:latin typeface="Aptos"/>
                <a:ea typeface="Aptos"/>
                <a:cs typeface="Aptos"/>
              </a:defRPr>
            </a:pPr>
            <a:r>
              <a:t>Cancelled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B385E5-5725-4F24-B422-F9E8EF22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86375"/>
            <a:ext cx="952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1A0411-3099-4D0C-9A8F-F9A394F0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90963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Outcome: no scattered calls or messages; every request is searchable and manageable.</a:t>
            </a:r>
          </a:p>
        </p:txBody>
      </p:sp>
    </p:spTree>
    <p:extLst>
      <p:ext uri="{BB962C8B-B14F-4D97-AF65-F5344CB8AC3E}">
        <p14:creationId xmlns:p14="http://schemas.microsoft.com/office/powerpoint/2010/main" val="19393096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210057-0754-4456-AF0F-C6BCDE60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73AD9-6977-4B2E-8165-73CDAABF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F3EE"/>
                </a:solidFill>
                <a:latin typeface="Aptos"/>
                <a:ea typeface="Aptos"/>
                <a:cs typeface="Aptos"/>
              </a:defRPr>
            </a:pPr>
            <a:r>
              <a:t>ADMIN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3CAFB-631B-4DA9-A72E-2E2B26BC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47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Dashboards turn stored data into clear daily actions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5428A-58EA-4C8B-90A6-E0FBC04B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4516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188DC-8827-4989-9C38-B08E15C3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C0D3"/>
                </a:solidFill>
                <a:latin typeface="Aptos"/>
                <a:ea typeface="Aptos"/>
                <a:cs typeface="Aptos"/>
              </a:defRPr>
            </a:pPr>
            <a:r>
              <a:t>CARE-GRID  •  PARTH KADIYA  •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F8900-B191-4EB3-8F58-E7164688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38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9C0D3"/>
                </a:solidFill>
                <a:latin typeface="Aptos"/>
                <a:ea typeface="Aptos"/>
                <a:cs typeface="Aptos"/>
              </a:defRPr>
            </a:pPr>
            <a:r>
              <a:t>Doctor Website Maker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F02EB-EA54-45C8-8FEE-0FDEB733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6858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173B58"/>
          </a:solidFill>
          <a:ln xmlns:a="http://schemas.openxmlformats.org/drawingml/2006/main" w="0">
            <a:solidFill>
              <a:srgbClr val="173B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D418C-CBB0-4370-BE66-FD712EC7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2857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Operational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9F611-D045-446F-B75C-51447F90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590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14B69"/>
          </a:solidFill>
          <a:ln xmlns:a="http://schemas.openxmlformats.org/drawingml/2006/main" w="0">
            <a:solidFill>
              <a:srgbClr val="214B6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5D63B-E9D7-4A80-9C8F-17150EC0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1A5C0-240F-464F-BF46-8991F47C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24125"/>
            <a:ext cx="2095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Appointments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49D0DB-49BD-4A40-9704-5499FFC5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BD0DF"/>
                </a:solidFill>
                <a:latin typeface="Aptos"/>
                <a:ea typeface="Aptos"/>
                <a:cs typeface="Aptos"/>
              </a:defRPr>
            </a:pPr>
            <a:r>
              <a:t>Track and update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64687-B0BF-42B9-8AAC-70C926D0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590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14B69"/>
          </a:solidFill>
          <a:ln xmlns:a="http://schemas.openxmlformats.org/drawingml/2006/main" w="0">
            <a:solidFill>
              <a:srgbClr val="214B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C52D6-4C89-4B3B-A305-9A4FD599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0425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84A"/>
          </a:solidFill>
          <a:ln xmlns:a="http://schemas.openxmlformats.org/drawingml/2006/main" w="0">
            <a:solidFill>
              <a:srgbClr val="E4A8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F347F4-B702-4CE0-AC58-0173EAA3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95675"/>
            <a:ext cx="2095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Website Editor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6BB05F-2386-4088-8B2C-4CC1E2D2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719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BD0DF"/>
                </a:solidFill>
                <a:latin typeface="Aptos"/>
                <a:ea typeface="Aptos"/>
                <a:cs typeface="Aptos"/>
              </a:defRPr>
            </a:pPr>
            <a:r>
              <a:t>Update content, theme and media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2AA5CD-F6CB-455C-AD50-E50015C7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590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14B69"/>
          </a:solidFill>
          <a:ln xmlns:a="http://schemas.openxmlformats.org/drawingml/2006/main" w="0">
            <a:solidFill>
              <a:srgbClr val="214B6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B34F9-02EC-46F3-8CE8-B01AD9C4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76200" cy="742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62"/>
          </a:solidFill>
          <a:ln xmlns:a="http://schemas.openxmlformats.org/drawingml/2006/main" w="0">
            <a:solidFill>
              <a:srgbClr val="E9786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A1EADE-1FF1-4E89-8661-0296835E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67225"/>
            <a:ext cx="2095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Doctor Network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F1F45B-A2AD-463D-8591-40731A81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434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BD0DF"/>
                </a:solidFill>
                <a:latin typeface="Aptos"/>
                <a:ea typeface="Aptos"/>
                <a:cs typeface="Aptos"/>
              </a:defRPr>
            </a:pPr>
            <a:r>
              <a:t>Super-admin visibility and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C91AB-5180-4F20-80A8-4735271C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3524250" cy="40957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0B8D8-5FBF-439B-9EA1-9062FFC1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050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Grounded chatbot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F7F088-B1C7-4308-848A-E2852352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24125"/>
            <a:ext cx="2667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“Show today’s pending appointments.”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4855A1-141C-4E57-8140-1FD5D79F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38500"/>
            <a:ext cx="2762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3EE"/>
          </a:solidFill>
          <a:ln xmlns:a="http://schemas.openxmlformats.org/drawingml/2006/main" w="0">
            <a:solidFill>
              <a:srgbClr val="DDF3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65EA52-6C6C-4051-910B-0474F154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9950"/>
            <a:ext cx="2381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8C77"/>
                </a:solidFill>
                <a:latin typeface="Aptos"/>
                <a:ea typeface="Aptos"/>
                <a:cs typeface="Aptos"/>
              </a:defRPr>
            </a:pPr>
            <a:r>
              <a:t>Answers only from the authorized admin-panel data context.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6A5C79-4BA4-43E7-A705-CD0B6155E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72000"/>
            <a:ext cx="276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2FCE53-8154-4AB3-B8B2-1A748DDA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762500"/>
            <a:ext cx="2762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Conversation history is saved in MongoDB.</a:t>
            </a:r>
          </a:p>
        </p:txBody>
      </p:sp>
    </p:spTree>
    <p:extLst>
      <p:ext uri="{BB962C8B-B14F-4D97-AF65-F5344CB8AC3E}">
        <p14:creationId xmlns:p14="http://schemas.microsoft.com/office/powerpoint/2010/main" val="18056117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5BB550-943A-4372-B737-EBB83877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01EF5-7A0A-4AED-9C04-60DE7D5C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C77"/>
                </a:solidFill>
                <a:latin typeface="Aptos"/>
                <a:ea typeface="Aptos"/>
                <a:cs typeface="Aptos"/>
              </a:defRPr>
            </a:pPr>
            <a:r>
              <a:t>SECURITY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1A43E1-F1E4-4C57-A706-3BFD1CA9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47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Security is built into every sensitive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9FF59-6D5D-4DAC-8847-2B437CC7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77078-82C0-4A4E-841A-2E5AF5FB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CARE-GRID  •  PARTH KADIYA  • 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0851FA-3252-4633-BA76-173771E1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38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Doctor Website Maker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95985-FDC7-45D8-97AC-7A23EC07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6BF75-E0A5-4DBB-9252-6CA077E1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669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Identity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9D309-13CC-4CD7-A869-9D258FFD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05050"/>
            <a:ext cx="81915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Registration, doctor login and super-admin login require email OTP verification.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2F17A-CDD5-4E52-A5D3-58CF773F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6125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8BFE41-9205-4E5E-A113-A405D0A3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6125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CC8D25-3369-4F99-8E47-11F205D4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2914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Hashed secrets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098C8-EE3B-4550-86E1-717DA1E7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2914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Passwords and OTP values are stored as bcrypt hashes.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6EABB-5EF0-49E3-A8AE-66E5FA9D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86125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C337E5-084E-4285-BE04-C4FF7F40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86125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A84A"/>
          </a:solidFill>
          <a:ln xmlns:a="http://schemas.openxmlformats.org/drawingml/2006/main" w="0">
            <a:solidFill>
              <a:srgbClr val="E4A8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6FE60-AB5D-42D1-B186-D6308962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48050"/>
            <a:ext cx="2914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Purpose-bound OTP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AB6B6-3BA1-449A-858F-993D5DA8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90950"/>
            <a:ext cx="2914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Expiry, attempt limit and one-time use prevent replay.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B74B0E-D26E-4C3D-9038-58420CB8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86125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B9F38C-2367-4404-99D8-5915FDA0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86125"/>
            <a:ext cx="66675" cy="1238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7862"/>
          </a:solidFill>
          <a:ln xmlns:a="http://schemas.openxmlformats.org/drawingml/2006/main" w="0">
            <a:solidFill>
              <a:srgbClr val="E9786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E5CB9-EBC7-4C64-A69A-60A6B6B3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48050"/>
            <a:ext cx="29146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Role authorization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CDD8C-6253-4142-90B6-E53DD0DD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90950"/>
            <a:ext cx="29146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JWT access is restricted to doctor or super-admin scope.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938AB9-2668-45B9-97BF-9CBE9C8E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110871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1E222B-9257-4115-8081-671C6C3E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Validation • rate limiting • Helmet • controlled CORS • session invalidation after password reset</a:t>
            </a:r>
          </a:p>
        </p:txBody>
      </p:sp>
    </p:spTree>
    <p:extLst>
      <p:ext uri="{BB962C8B-B14F-4D97-AF65-F5344CB8AC3E}">
        <p14:creationId xmlns:p14="http://schemas.microsoft.com/office/powerpoint/2010/main" val="1544072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8EF473-4112-4E9C-B352-264AD2C7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03153-BC0B-40A5-B543-28395410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C77"/>
                </a:solidFill>
                <a:latin typeface="Aptos"/>
                <a:ea typeface="Aptos"/>
                <a:cs typeface="Aptos"/>
              </a:defRPr>
            </a:pPr>
            <a:r>
              <a:t>DATA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22E79-8583-408E-8836-0228CB26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47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MongoDB keeps flexible content and operational records together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166E8-1EEB-44F4-9EB8-A6514CF5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35D74-92AA-49ED-84B6-05BA22FD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CARE-GRID  •  PARTH KADIYA  • 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FED44-9253-4AFC-8818-E74998A7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38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Doctor Website Maker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C75E54-7E49-497C-BF74-DF3D98A2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24125"/>
            <a:ext cx="2952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0F8C7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FD609-1DA2-4C51-9FF4-8173D40C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638425"/>
            <a:ext cx="2686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Doctor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1FCB9-E597-4C61-92D4-D30CDD9E6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14650"/>
            <a:ext cx="2686050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BBD0DF"/>
                </a:solidFill>
                <a:latin typeface="Aptos"/>
                <a:ea typeface="Aptos"/>
                <a:cs typeface="Aptos"/>
              </a:defRPr>
            </a:pPr>
            <a:r>
              <a:t>slug • theme • profile</a:t>
            </a:r>
          </a:p>
          <a:p xmlns:a="http://schemas.openxmlformats.org/drawingml/2006/main">
            <a:pPr algn="ctr">
              <a:defRPr sz="900" b="0">
                <a:solidFill>
                  <a:srgbClr val="BBD0DF"/>
                </a:solidFill>
                <a:latin typeface="Aptos"/>
                <a:ea typeface="Aptos"/>
                <a:cs typeface="Aptos"/>
              </a:defRPr>
            </a:pPr>
            <a:r>
              <a:t>media • AI content • authVersion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61872-BF03-4B29-8478-A17989FF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2762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A8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D73F5-966D-4FBB-B755-AE1EB2F9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28800"/>
            <a:ext cx="2495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Appointment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71B923-6E80-4FCD-9A3B-0F3A166B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05025"/>
            <a:ext cx="2495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doctor snapshot • patient</a:t>
            </a:r>
          </a:p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treatment • date •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3866E-7422-4488-85C9-C418F6CA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2762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786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0D174-605B-4D51-AAD6-E12CDBDE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210050"/>
            <a:ext cx="2495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OTP Challenge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9B781-6B05-4CD0-A555-1DCFDEFE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86275"/>
            <a:ext cx="2495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email • purpose • hash</a:t>
            </a:r>
          </a:p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expiry • attempts • consumed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79E7A-D1EA-414F-B93F-FC5233E9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714500"/>
            <a:ext cx="2762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C7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77C22-2C1F-4B8E-B940-D2FE3F50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828800"/>
            <a:ext cx="2495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Chat Session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5DB49F-FF82-4BD7-904A-2E174390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105025"/>
            <a:ext cx="2495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role • doctor scope</a:t>
            </a:r>
          </a:p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messages • timestamps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8E54F-2BAA-4F87-A392-2441D868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95750"/>
            <a:ext cx="2762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A8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104EC2-8B76-4C75-A108-FCA136B0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210050"/>
            <a:ext cx="2495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Super Admin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E1468-BAE0-4E3F-81EB-85819034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486275"/>
            <a:ext cx="2495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protected identity</a:t>
            </a:r>
          </a:p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network-wide authorization</a:t>
            </a:r>
          </a:p>
        </p:txBody>
      </p:sp>
      <p:cxnSp>
        <p:nvCxnSpPr>
          <p:cNvPr id="22" name="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76625" y="2286000"/>
            <a:ext cx="1143000" cy="881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C77"/>
            </a:solidFill>
            <a:prstDash val="solid"/>
            <a:tailEnd type="arrow" w="med" len="med"/>
          </a:ln>
        </p:spPr>
      </p:cxnSp>
      <p:cxnSp>
        <p:nvCxnSpPr>
          <p:cNvPr id="23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476625" y="3167063"/>
            <a:ext cx="1143000" cy="15001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C77"/>
            </a:solidFill>
            <a:prstDash val="solid"/>
            <a:tailEnd type="arrow" w="med" len="med"/>
          </a:ln>
        </p:spPr>
      </p:cxn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7572375" y="2286000"/>
            <a:ext cx="1143000" cy="8810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C77"/>
            </a:solidFill>
            <a:prstDash val="solid"/>
            <a:tailEnd type="arrow" w="med" len="med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572375" y="3167063"/>
            <a:ext cx="1143000" cy="15001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C77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3A5713-A73B-48E1-A24E-0C6789A1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38150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8C77"/>
                </a:solidFill>
                <a:latin typeface="Aptos"/>
                <a:ea typeface="Aptos"/>
                <a:cs typeface="Aptos"/>
              </a:defRPr>
            </a:pPr>
            <a:r>
              <a:t>Unique indexes: doctor slug + email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754E6D-DFD8-4198-9CD5-5F558EFA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62500"/>
            <a:ext cx="476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TTL index automatically removes expired OTP challenges</a:t>
            </a:r>
          </a:p>
        </p:txBody>
      </p:sp>
    </p:spTree>
    <p:extLst>
      <p:ext uri="{BB962C8B-B14F-4D97-AF65-F5344CB8AC3E}">
        <p14:creationId xmlns:p14="http://schemas.microsoft.com/office/powerpoint/2010/main" val="110535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175734-6FFB-4C30-A8AF-61AD95D0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1C462-2217-4E12-A907-5E1C3BF1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8C77"/>
                </a:solidFill>
                <a:latin typeface="Aptos"/>
                <a:ea typeface="Aptos"/>
                <a:cs typeface="Aptos"/>
              </a:defRPr>
            </a:pPr>
            <a:r>
              <a:t>QUALITY ASSURANCE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D0ADD-E45A-43F0-8EB2-A783C347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47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t>Core workflows passed functional and production-readiness checks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B0576-DEA4-40C1-A438-FEA2E83E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2482E-02F1-4ED8-9356-736CE157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CARE-GRID  •  PARTH KADIYA  • 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6B133-38B0-4882-94F1-2896ACB7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38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Doctor Website Maker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26384-50F0-4E01-B74F-569C38E3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8A063-E0DA-4A03-B02C-6F785472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954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Registration without verified OTP is rejected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79F348-F94F-44C2-8DB6-178E2D8D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4429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92701-66FC-48E7-BE4F-4E6C6437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163A2B-DF7D-4741-BBCC-33F5924C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384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Verified OTP cannot be reused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45C782-A4E6-422B-B436-9DB21F6F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24250"/>
            <a:ext cx="4429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AD7A7-19F8-431E-BFA2-30752EEB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21D9B-1862-4E2E-97A8-56D6A99F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814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Correct doctor credentials still require OTP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3E94B-1CEF-4203-B25A-60619EFC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67250"/>
            <a:ext cx="4429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ADFC2-5D3F-45BC-B965-2CC30A4E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FADD1-F88C-4B17-AC5C-E939A0BE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6954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Patient appointment reaches both dashboards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00BC9-9E5F-4759-948B-9CEBDC95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81250"/>
            <a:ext cx="4429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B4FBC-96C2-40DA-AB48-9185ABE1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A496E-5724-4ADF-A1F2-EB8CE9E7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384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Clinic directions search name + address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96A7C-C983-47F0-BB4C-0C5BF9C5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524250"/>
            <a:ext cx="4429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CB8A8F-C4D1-4D5C-9CCD-DEFE81EE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62E17B-A1FA-44F5-94F6-89FFDE2E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981450"/>
            <a:ext cx="4476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Production-mode startup and health check 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5D4645-1177-4817-994D-C32AED0E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667250"/>
            <a:ext cx="4429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9D7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EBF5C2-DE30-4B81-A35D-61059A9E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763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3EE"/>
          </a:solidFill>
          <a:ln xmlns:a="http://schemas.openxmlformats.org/drawingml/2006/main" w="0">
            <a:solidFill>
              <a:srgbClr val="DDF3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81680D-E3FA-428E-8B82-3133A302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10344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8C77"/>
                </a:solidFill>
                <a:latin typeface="Aptos"/>
                <a:ea typeface="Aptos"/>
                <a:cs typeface="Aptos"/>
              </a:defRPr>
            </a:pPr>
            <a:r>
              <a:t>Validation covers expected flows as well as invalid and malicious inputs.</a:t>
            </a:r>
          </a:p>
        </p:txBody>
      </p:sp>
    </p:spTree>
    <p:extLst>
      <p:ext uri="{BB962C8B-B14F-4D97-AF65-F5344CB8AC3E}">
        <p14:creationId xmlns:p14="http://schemas.microsoft.com/office/powerpoint/2010/main" val="1065172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E0FEE6-2FE4-4EBE-92BB-F29F9919A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C77"/>
          </a:solidFill>
          <a:ln xmlns:a="http://schemas.openxmlformats.org/drawingml/2006/main" w="0">
            <a:solidFill>
              <a:srgbClr val="0F8C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E799F-DED9-4835-9103-D8F9C673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19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DF3EE"/>
                </a:solidFill>
                <a:latin typeface="Aptos"/>
                <a:ea typeface="Aptos"/>
                <a:cs typeface="Aptos"/>
              </a:defRPr>
            </a:pPr>
            <a:r>
              <a:t>DEPLOYMENT &amp; 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25721-CC14-40EB-9E3F-60D48F73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47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Care-Grid is ready for a scalable split deployment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0FB99-F4DE-4CBB-B76B-FBD17E15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144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34516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29495F-6AF2-4765-827E-40240A7A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4762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C0D3"/>
                </a:solidFill>
                <a:latin typeface="Aptos"/>
                <a:ea typeface="Aptos"/>
                <a:cs typeface="Aptos"/>
              </a:defRPr>
            </a:pPr>
            <a:r>
              <a:t>CARE-GRID  •  PARTH KADIYA  •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CE36F-E515-471C-A1BB-9ECFF2EA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20383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9C0D3"/>
                </a:solidFill>
                <a:latin typeface="Aptos"/>
                <a:ea typeface="Aptos"/>
                <a:cs typeface="Aptos"/>
              </a:defRPr>
            </a:pPr>
            <a:r>
              <a:t>Doctor Website Maker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95226-ED50-4FCE-ABEF-89953C4D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1905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C7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D0DAB-F067-489D-8343-1812F52E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05050"/>
            <a:ext cx="1638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GitHub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992FE-1E5D-44EF-B57B-213ABFA7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81275"/>
            <a:ext cx="1638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Source repository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B3393-8CF5-4AE7-A2B1-965BA67A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145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DF3EE"/>
          </a:solidFill>
          <a:ln xmlns:a="http://schemas.openxmlformats.org/drawingml/2006/main" w="9525">
            <a:solidFill>
              <a:srgbClr val="0F8C7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C95794-9374-4D3D-9C74-A72CB7FF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28800"/>
            <a:ext cx="1924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Vercel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BFFEB-6D4A-4F38-BC92-6A93B18E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05025"/>
            <a:ext cx="1924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React/Vite 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CFFE8-82F1-4DE1-A6B6-BDA648A8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290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EEDB"/>
          </a:solidFill>
          <a:ln xmlns:a="http://schemas.openxmlformats.org/drawingml/2006/main" w="9525">
            <a:solidFill>
              <a:srgbClr val="E4A8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E27425-05D4-44C1-B972-A9368EC2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43300"/>
            <a:ext cx="1924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Render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690D3-E2C2-446D-9E60-37FA1565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19525"/>
            <a:ext cx="19240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Node/Express 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E4DEBF-32B7-4429-BEFF-DD448F5E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2667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F0F8"/>
          </a:solidFill>
          <a:ln xmlns:a="http://schemas.openxmlformats.org/drawingml/2006/main" w="9525">
            <a:solidFill>
              <a:srgbClr val="E9786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8AD1F-D1A6-4ABD-B40F-C21E5075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86050"/>
            <a:ext cx="240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t>MongoDB Atlas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C3583-62F4-4A11-B337-3BC54E8C1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62275"/>
            <a:ext cx="2400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58A"/>
                </a:solidFill>
                <a:latin typeface="Aptos"/>
                <a:ea typeface="Aptos"/>
                <a:cs typeface="Aptos"/>
              </a:defRPr>
            </a:pPr>
            <a:r>
              <a:t>Managed production database</a:t>
            </a:r>
          </a:p>
        </p:txBody>
      </p:sp>
      <p:cxnSp>
        <p:nvCxnSpPr>
          <p:cNvPr id="19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619375" y="2190750"/>
            <a:ext cx="10953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C77"/>
            </a:solidFill>
            <a:prstDash val="solid"/>
            <a:tailEnd type="arrow" w="med" len="med"/>
          </a:ln>
        </p:spPr>
      </p:cxnSp>
      <p:cxnSp>
        <p:nvCxnSpPr>
          <p:cNvPr id="20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2619375" y="2619375"/>
            <a:ext cx="1095375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C77"/>
            </a:solidFill>
            <a:prstDash val="solid"/>
            <a:tailEnd type="arrow" w="med" len="med"/>
          </a:ln>
        </p:spPr>
      </p:cxnSp>
      <p:cxnSp>
        <p:nvCxnSpPr>
          <p:cNvPr id="21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05500" y="2190750"/>
            <a:ext cx="142875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C77"/>
            </a:solidFill>
            <a:prstDash val="solid"/>
            <a:tailEnd type="arrow" w="med" len="med"/>
          </a:ln>
        </p:spPr>
      </p:cxnSp>
      <p:cxnSp>
        <p:nvCxnSpPr>
          <p:cNvPr id="2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5905500" y="3095625"/>
            <a:ext cx="142875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C77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31293E-A800-43C1-A6EC-ADAC54CA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92868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1445F"/>
          </a:solidFill>
          <a:ln xmlns:a="http://schemas.openxmlformats.org/drawingml/2006/main" w="0">
            <a:solidFill>
              <a:srgbClr val="21445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1B9EF3-0B38-47A4-AFD9-F2A7E455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881062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Care-Grid combines website generation with secure authentication, appointments, connected dashboards and data-grounded assistance.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736EB-C418-4C10-8DB4-D54ABD51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33625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DDF3EE"/>
                </a:solidFill>
                <a:latin typeface="Aptos"/>
                <a:ea typeface="Aptos"/>
                <a:cs typeface="Aptos"/>
              </a:defRPr>
            </a:pPr>
            <a:r>
              <a:t>THANK YOU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E2294E-2846-4131-ADF7-F750488A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18097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Questions?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9074C4-877F-4483-A7EE-95637221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71875"/>
            <a:ext cx="1809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A9C0D3"/>
                </a:solidFill>
                <a:latin typeface="Aptos"/>
                <a:ea typeface="Aptos"/>
                <a:cs typeface="Aptos"/>
              </a:defRPr>
            </a:pPr>
            <a:r>
              <a:t>Parth Kadiya</a:t>
            </a:r>
          </a:p>
          <a:p xmlns:a="http://schemas.openxmlformats.org/drawingml/2006/main">
            <a:pPr algn="ctr">
              <a:defRPr sz="1050" b="0">
                <a:solidFill>
                  <a:srgbClr val="A9C0D3"/>
                </a:solidFill>
                <a:latin typeface="Aptos"/>
                <a:ea typeface="Aptos"/>
                <a:cs typeface="Aptos"/>
              </a:defRPr>
            </a:pPr>
            <a:r>
              <a:t>224005013</a:t>
            </a:r>
          </a:p>
        </p:txBody>
      </p:sp>
    </p:spTree>
    <p:extLst>
      <p:ext uri="{BB962C8B-B14F-4D97-AF65-F5344CB8AC3E}">
        <p14:creationId xmlns:p14="http://schemas.microsoft.com/office/powerpoint/2010/main" val="2139737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2026-06-08T03:04:07.8290000Z</dcterms:created>
  <dcterms:modified xsi:type="dcterms:W3CDTF">2026-06-08T03:04:07.8290000Z</dcterms:modified>
</coreProperties>
</file>